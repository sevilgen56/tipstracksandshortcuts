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7" r:id="rId10"/>
    <p:sldId id="266" r:id="rId11"/>
    <p:sldId id="268" r:id="rId12"/>
    <p:sldId id="270" r:id="rId13"/>
    <p:sldId id="274" r:id="rId14"/>
    <p:sldId id="275" r:id="rId15"/>
    <p:sldId id="273" r:id="rId16"/>
    <p:sldId id="276" r:id="rId17"/>
    <p:sldId id="27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tıklatın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5/6/2020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esim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876423" y="669701"/>
            <a:ext cx="8791575" cy="2387600"/>
          </a:xfrm>
        </p:spPr>
        <p:txBody>
          <a:bodyPr/>
          <a:lstStyle/>
          <a:p>
            <a:r>
              <a:rPr lang="tr-TR" sz="2400" b="1" dirty="0" smtClean="0">
                <a:latin typeface="Arial Rounded MT Bold" panose="020F0704030504030204" pitchFamily="34" charset="0"/>
              </a:rPr>
              <a:t>JUPYTER NOTEBOOK </a:t>
            </a:r>
            <a:r>
              <a:rPr lang="tr-TR" sz="2400" b="1" dirty="0">
                <a:latin typeface="Arial Rounded MT Bold" panose="020F0704030504030204" pitchFamily="34" charset="0"/>
                <a:cs typeface="Arial" panose="020B0604020202020204" pitchFamily="34" charset="0"/>
              </a:rPr>
              <a:t>TIPS, </a:t>
            </a:r>
            <a:r>
              <a:rPr lang="tr-TR" sz="2400" b="1" dirty="0" err="1">
                <a:latin typeface="Arial Rounded MT Bold" panose="020F0704030504030204" pitchFamily="34" charset="0"/>
                <a:cs typeface="Arial" panose="020B0604020202020204" pitchFamily="34" charset="0"/>
              </a:rPr>
              <a:t>TRıCKS</a:t>
            </a:r>
            <a:r>
              <a:rPr lang="tr-TR" sz="2400" b="1" dirty="0">
                <a:latin typeface="Arial Rounded MT Bold" panose="020F0704030504030204" pitchFamily="34" charset="0"/>
                <a:cs typeface="Arial" panose="020B0604020202020204" pitchFamily="34" charset="0"/>
              </a:rPr>
              <a:t> </a:t>
            </a:r>
            <a:r>
              <a:rPr lang="tr-TR" sz="2400" b="1" dirty="0" err="1">
                <a:latin typeface="Arial Rounded MT Bold" panose="020F0704030504030204" pitchFamily="34" charset="0"/>
                <a:cs typeface="Arial" panose="020B0604020202020204" pitchFamily="34" charset="0"/>
              </a:rPr>
              <a:t>and</a:t>
            </a:r>
            <a:r>
              <a:rPr lang="tr-TR" sz="2400" b="1" dirty="0">
                <a:latin typeface="Arial Rounded MT Bold" panose="020F0704030504030204" pitchFamily="34" charset="0"/>
                <a:cs typeface="Arial" panose="020B0604020202020204" pitchFamily="34" charset="0"/>
              </a:rPr>
              <a:t> </a:t>
            </a:r>
            <a:r>
              <a:rPr lang="tr-TR" sz="2400" b="1" dirty="0" err="1">
                <a:latin typeface="Arial Rounded MT Bold" panose="020F0704030504030204" pitchFamily="34" charset="0"/>
                <a:cs typeface="Arial" panose="020B0604020202020204" pitchFamily="34" charset="0"/>
              </a:rPr>
              <a:t>Shortcuts</a:t>
            </a:r>
            <a:r>
              <a:rPr lang="tr-TR" b="1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tr-TR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tr-TR" b="1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2566942"/>
          </a:xfrm>
        </p:spPr>
        <p:txBody>
          <a:bodyPr>
            <a:normAutofit/>
          </a:bodyPr>
          <a:lstStyle/>
          <a:p>
            <a:r>
              <a:rPr lang="tr-TR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SEVİM SEVİLGEN</a:t>
            </a:r>
          </a:p>
          <a:p>
            <a:r>
              <a:rPr lang="tr-TR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DEEP LEARNİNG TURKİYE AI TALENT PROGRAMME</a:t>
            </a:r>
            <a:endParaRPr lang="tr-TR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6319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Jupyter Notebook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1412" y="1723869"/>
            <a:ext cx="9905999" cy="406733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sz="2600" dirty="0" smtClean="0"/>
              <a:t>	Eskiden </a:t>
            </a:r>
            <a:r>
              <a:rPr lang="tr-TR" sz="2600" dirty="0"/>
              <a:t>IPython not defteri olarak bilinen Jupyter not defteri, kodu, görüntüleri, yorumları, formülleri ve grafikleri bir arada tutabileceğiniz gibi okunabilir analizler oluşturmanıza yardımcı olan esnek bir </a:t>
            </a:r>
            <a:r>
              <a:rPr lang="tr-TR" sz="2600" dirty="0" smtClean="0"/>
              <a:t>araçtır.</a:t>
            </a:r>
          </a:p>
          <a:p>
            <a:pPr marL="0" indent="0">
              <a:buNone/>
            </a:pPr>
            <a:r>
              <a:rPr lang="tr-TR" sz="2600" dirty="0" smtClean="0"/>
              <a:t>	Jupyter </a:t>
            </a:r>
            <a:r>
              <a:rPr lang="tr-TR" sz="2600" dirty="0"/>
              <a:t>IPython projesinden </a:t>
            </a:r>
            <a:r>
              <a:rPr lang="tr-TR" sz="2600" dirty="0" smtClean="0"/>
              <a:t>doğdu, proje </a:t>
            </a:r>
            <a:r>
              <a:rPr lang="tr-TR" sz="2600" dirty="0"/>
              <a:t>birden fazla dili destekleyebilecek bir dizüstü bilgisayar haline </a:t>
            </a:r>
            <a:r>
              <a:rPr lang="tr-TR" sz="2600" dirty="0" smtClean="0"/>
              <a:t>geldi. </a:t>
            </a:r>
            <a:r>
              <a:rPr lang="tr-TR" sz="2600" dirty="0"/>
              <a:t>IPython dizüstü bilgisayarı olarak tarihsel adı. Jupyter adı, tasarlandığı üç temel dilin dolaylı bir kısaltmasıdır: </a:t>
            </a:r>
            <a:r>
              <a:rPr lang="tr-TR" sz="2600" b="1" dirty="0"/>
              <a:t>JU</a:t>
            </a:r>
            <a:r>
              <a:rPr lang="tr-TR" sz="2600" dirty="0"/>
              <a:t> lia,  </a:t>
            </a:r>
            <a:r>
              <a:rPr lang="tr-TR" sz="2600" b="1" dirty="0"/>
              <a:t>PYT</a:t>
            </a:r>
            <a:r>
              <a:rPr lang="tr-TR" sz="2600" dirty="0"/>
              <a:t> hon ,  </a:t>
            </a:r>
            <a:r>
              <a:rPr lang="tr-TR" sz="2600" b="1" dirty="0"/>
              <a:t>R</a:t>
            </a:r>
            <a:r>
              <a:rPr lang="tr-TR" sz="2600" dirty="0"/>
              <a:t>  ve Jupiter gezegeninden esinlenmiştir.</a:t>
            </a:r>
          </a:p>
          <a:p>
            <a:pPr marL="0" indent="0">
              <a:buNone/>
            </a:pPr>
            <a:r>
              <a:rPr lang="tr-TR" sz="2600" dirty="0" smtClean="0"/>
              <a:t>	Jupyter'de </a:t>
            </a:r>
            <a:r>
              <a:rPr lang="tr-TR" sz="2600" dirty="0"/>
              <a:t>Python ile çalışırken, IPython çekirdeği kullanılır, bu da bize Jupyter dizüstü bilgisayarlarımızdan IPython özelliklerine kullanışlı erişim </a:t>
            </a:r>
            <a:r>
              <a:rPr lang="tr-TR" sz="2600" dirty="0" smtClean="0"/>
              <a:t>sağlar.</a:t>
            </a:r>
            <a:endParaRPr lang="tr-TR" sz="2600" dirty="0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32101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jupyter ile çalışmamızı kolaylaştıran bazı püf noktalar</a:t>
            </a:r>
            <a:endParaRPr lang="tr-TR" sz="4000" b="1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1412" y="2097088"/>
            <a:ext cx="9905999" cy="4239317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AutoNum type="arabicPeriod"/>
            </a:pPr>
            <a:r>
              <a:rPr lang="tr-TR" b="1" dirty="0" smtClean="0">
                <a:latin typeface="Arial" panose="020B0604020202020204" pitchFamily="34" charset="0"/>
                <a:cs typeface="Arial" panose="020B0604020202020204" pitchFamily="34" charset="0"/>
              </a:rPr>
              <a:t>Klavye Kısa yolların (Keyboard Shortcuts) bazıları</a:t>
            </a:r>
          </a:p>
          <a:p>
            <a:r>
              <a:rPr lang="tr-TR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Kısa yol sayfasını açma : </a:t>
            </a:r>
            <a:r>
              <a:rPr lang="tr-T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‘H’ </a:t>
            </a:r>
            <a:r>
              <a:rPr lang="tr-TR" sz="2000" dirty="0">
                <a:latin typeface="Arial" panose="020B0604020202020204" pitchFamily="34" charset="0"/>
                <a:cs typeface="Arial" panose="020B0604020202020204" pitchFamily="34" charset="0"/>
              </a:rPr>
              <a:t>veya </a:t>
            </a:r>
            <a:r>
              <a:rPr lang="tr-T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‘Help </a:t>
            </a:r>
            <a:r>
              <a:rPr lang="tr-TR" sz="2000" dirty="0">
                <a:latin typeface="Arial" panose="020B0604020202020204" pitchFamily="34" charset="0"/>
                <a:cs typeface="Arial" panose="020B0604020202020204" pitchFamily="34" charset="0"/>
              </a:rPr>
              <a:t>&gt; Keyboard </a:t>
            </a:r>
            <a:r>
              <a:rPr lang="tr-T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Shortcuts’</a:t>
            </a:r>
          </a:p>
          <a:p>
            <a:r>
              <a:rPr lang="tr-T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Ctrl + Shift + P </a:t>
            </a:r>
            <a:r>
              <a:rPr lang="tr-TR" sz="2000" b="1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tr-TR" sz="2000" dirty="0">
                <a:latin typeface="Arial" panose="020B0604020202020204" pitchFamily="34" charset="0"/>
                <a:cs typeface="Arial" panose="020B0604020202020204" pitchFamily="34" charset="0"/>
              </a:rPr>
              <a:t>Bu iletişim kutusu herhangi bir komutu ada göre çalıştırmanıza yardımcı olur - bir eylem için klavye </a:t>
            </a:r>
            <a:r>
              <a:rPr lang="tr-T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kısa yolunu </a:t>
            </a:r>
            <a:r>
              <a:rPr lang="tr-TR" sz="2000" dirty="0">
                <a:latin typeface="Arial" panose="020B0604020202020204" pitchFamily="34" charset="0"/>
                <a:cs typeface="Arial" panose="020B0604020202020204" pitchFamily="34" charset="0"/>
              </a:rPr>
              <a:t>bilmiyorsanız veya yapmak istediğiniz şeyin klavye </a:t>
            </a:r>
            <a:r>
              <a:rPr lang="tr-T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kısa yolu </a:t>
            </a:r>
            <a:r>
              <a:rPr lang="tr-TR" sz="2000" dirty="0">
                <a:latin typeface="Arial" panose="020B0604020202020204" pitchFamily="34" charset="0"/>
                <a:cs typeface="Arial" panose="020B0604020202020204" pitchFamily="34" charset="0"/>
              </a:rPr>
              <a:t>yoksa kullanışlıdır</a:t>
            </a:r>
            <a:r>
              <a:rPr lang="tr-T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tr-T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 ve B = </a:t>
            </a:r>
            <a:r>
              <a:rPr lang="tr-T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Kod satırın üstüne ve altına yeni hücre ekler.</a:t>
            </a:r>
          </a:p>
          <a:p>
            <a:r>
              <a:rPr lang="tr-T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Shift + Enter = </a:t>
            </a:r>
            <a:r>
              <a:rPr lang="tr-T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kod hücresini çalıştırır.</a:t>
            </a:r>
          </a:p>
          <a:p>
            <a:r>
              <a:rPr lang="tr-T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 + D = </a:t>
            </a:r>
            <a:r>
              <a:rPr lang="tr-T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Mevcut hücreyi siler.</a:t>
            </a:r>
          </a:p>
          <a:p>
            <a:r>
              <a:rPr lang="tr-T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 ve Y </a:t>
            </a:r>
            <a:r>
              <a:rPr lang="tr-TR" sz="2000" b="1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tr-TR" sz="2000" dirty="0">
                <a:latin typeface="Arial" panose="020B0604020202020204" pitchFamily="34" charset="0"/>
                <a:cs typeface="Arial" panose="020B0604020202020204" pitchFamily="34" charset="0"/>
              </a:rPr>
              <a:t>M geçerli hücreyi </a:t>
            </a:r>
            <a:r>
              <a:rPr lang="tr-T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Markdown’a Y ise kod satırına dönüştürür.</a:t>
            </a:r>
          </a:p>
          <a:p>
            <a:r>
              <a:rPr lang="tr-TR" sz="2100" b="1" dirty="0">
                <a:latin typeface="Arial" panose="020B0604020202020204" pitchFamily="34" charset="0"/>
                <a:cs typeface="Arial" panose="020B0604020202020204" pitchFamily="34" charset="0"/>
              </a:rPr>
              <a:t>Shift + </a:t>
            </a:r>
            <a:r>
              <a:rPr lang="tr-TR" sz="2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Tab </a:t>
            </a:r>
            <a:r>
              <a:rPr lang="tr-TR" sz="2100" b="1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tr-TR" sz="2100" dirty="0">
                <a:latin typeface="Arial" panose="020B0604020202020204" pitchFamily="34" charset="0"/>
                <a:cs typeface="Arial" panose="020B0604020202020204" pitchFamily="34" charset="0"/>
              </a:rPr>
              <a:t>size bir kod hücresine az önce yazdığınız nesne için Docstring'i (dokümantasyon) </a:t>
            </a:r>
            <a:r>
              <a:rPr lang="tr-TR" sz="2100" dirty="0" smtClean="0">
                <a:latin typeface="Arial" panose="020B0604020202020204" pitchFamily="34" charset="0"/>
                <a:cs typeface="Arial" panose="020B0604020202020204" pitchFamily="34" charset="0"/>
              </a:rPr>
              <a:t>gösterecektir.</a:t>
            </a:r>
          </a:p>
          <a:p>
            <a:endParaRPr lang="tr-TR" sz="2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tr-TR" sz="2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tr-TR" sz="2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tr-TR" sz="2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tr-T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tr-TR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tr-TR" b="1" dirty="0"/>
          </a:p>
        </p:txBody>
      </p:sp>
    </p:spTree>
    <p:extLst>
      <p:ext uri="{BB962C8B-B14F-4D97-AF65-F5344CB8AC3E}">
        <p14:creationId xmlns:p14="http://schemas.microsoft.com/office/powerpoint/2010/main" val="3607689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2. Pretty Display of Variables</a:t>
            </a:r>
            <a:endParaRPr lang="tr-T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 err="1" smtClean="0"/>
              <a:t>from</a:t>
            </a:r>
            <a:r>
              <a:rPr lang="tr-TR" dirty="0" smtClean="0"/>
              <a:t> </a:t>
            </a:r>
            <a:r>
              <a:rPr lang="tr-TR" dirty="0" err="1"/>
              <a:t>IPython.core.interactiveshell</a:t>
            </a:r>
            <a:r>
              <a:rPr lang="tr-TR" dirty="0"/>
              <a:t> </a:t>
            </a:r>
            <a:r>
              <a:rPr lang="tr-TR" dirty="0" err="1"/>
              <a:t>import</a:t>
            </a:r>
            <a:r>
              <a:rPr lang="tr-TR" dirty="0"/>
              <a:t> </a:t>
            </a:r>
            <a:r>
              <a:rPr lang="tr-TR" dirty="0" err="1"/>
              <a:t>InteractiveShell</a:t>
            </a:r>
            <a:endParaRPr lang="tr-TR" dirty="0"/>
          </a:p>
          <a:p>
            <a:pPr marL="0" indent="0">
              <a:buNone/>
            </a:pPr>
            <a:r>
              <a:rPr lang="tr-TR" dirty="0" err="1" smtClean="0"/>
              <a:t>InteractiveShell.ast_node_interactivity</a:t>
            </a:r>
            <a:r>
              <a:rPr lang="tr-TR" dirty="0" smtClean="0"/>
              <a:t> </a:t>
            </a:r>
            <a:r>
              <a:rPr lang="tr-TR" dirty="0"/>
              <a:t>= </a:t>
            </a:r>
            <a:r>
              <a:rPr lang="tr-TR" dirty="0" smtClean="0"/>
              <a:t>" </a:t>
            </a:r>
            <a:r>
              <a:rPr lang="tr-TR" dirty="0" err="1" smtClean="0"/>
              <a:t>all</a:t>
            </a:r>
            <a:r>
              <a:rPr lang="tr-TR" dirty="0" smtClean="0"/>
              <a:t> " </a:t>
            </a:r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r>
              <a:rPr lang="tr-TR" dirty="0"/>
              <a:t>ü</a:t>
            </a:r>
            <a:r>
              <a:rPr lang="tr-TR" dirty="0" smtClean="0"/>
              <a:t>lke </a:t>
            </a:r>
            <a:r>
              <a:rPr lang="tr-TR" dirty="0"/>
              <a:t>= </a:t>
            </a:r>
            <a:r>
              <a:rPr lang="tr-TR" dirty="0" err="1"/>
              <a:t>pd.read_csv</a:t>
            </a:r>
            <a:r>
              <a:rPr lang="tr-TR" dirty="0"/>
              <a:t>("50ülke.csv")</a:t>
            </a:r>
          </a:p>
          <a:p>
            <a:pPr marL="0" indent="0">
              <a:buNone/>
            </a:pPr>
            <a:r>
              <a:rPr lang="tr-TR" dirty="0" err="1"/>
              <a:t>ü</a:t>
            </a:r>
            <a:r>
              <a:rPr lang="tr-TR" dirty="0" err="1" smtClean="0"/>
              <a:t>lke.head</a:t>
            </a:r>
            <a:r>
              <a:rPr lang="tr-TR" dirty="0"/>
              <a:t>()</a:t>
            </a:r>
          </a:p>
          <a:p>
            <a:pPr marL="0" indent="0">
              <a:buNone/>
            </a:pPr>
            <a:r>
              <a:rPr lang="tr-TR" dirty="0" err="1" smtClean="0"/>
              <a:t>ülke.tail</a:t>
            </a:r>
            <a:r>
              <a:rPr lang="tr-TR" dirty="0" smtClean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270455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084743" y="0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3. Easy links to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documentation</a:t>
            </a:r>
            <a:r>
              <a:rPr lang="tr-TR" sz="2800" dirty="0">
                <a:latin typeface="Arial" panose="020B0604020202020204" pitchFamily="34" charset="0"/>
                <a:cs typeface="Arial" panose="020B0604020202020204" pitchFamily="34" charset="0"/>
              </a:rPr>
              <a:t>(Kolay dokümantasyon </a:t>
            </a:r>
            <a:r>
              <a:rPr lang="tr-T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bağlantıları)</a:t>
            </a:r>
            <a:endParaRPr lang="tr-T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270202" y="4854248"/>
            <a:ext cx="9905999" cy="1363143"/>
          </a:xfrm>
        </p:spPr>
        <p:txBody>
          <a:bodyPr/>
          <a:lstStyle/>
          <a:p>
            <a:r>
              <a:rPr lang="tr-TR" b="1" dirty="0"/>
              <a:t>Help </a:t>
            </a:r>
            <a:r>
              <a:rPr lang="tr-TR" dirty="0"/>
              <a:t>Menünün içinde, </a:t>
            </a:r>
            <a:r>
              <a:rPr lang="en-US" b="1" dirty="0" err="1"/>
              <a:t>NumPy</a:t>
            </a:r>
            <a:r>
              <a:rPr lang="en-US" b="1" dirty="0"/>
              <a:t>, Pandas, </a:t>
            </a:r>
            <a:r>
              <a:rPr lang="en-US" b="1" dirty="0" err="1"/>
              <a:t>SciPy</a:t>
            </a:r>
            <a:r>
              <a:rPr lang="en-US" b="1" dirty="0"/>
              <a:t> </a:t>
            </a:r>
            <a:r>
              <a:rPr lang="tr-TR" b="1" dirty="0" smtClean="0"/>
              <a:t>ve </a:t>
            </a:r>
            <a:r>
              <a:rPr lang="en-US" b="1" dirty="0" err="1" smtClean="0"/>
              <a:t>Matplotlib</a:t>
            </a:r>
            <a:r>
              <a:rPr lang="tr-TR" b="1" dirty="0" smtClean="0"/>
              <a:t> </a:t>
            </a:r>
            <a:r>
              <a:rPr lang="tr-TR" dirty="0" smtClean="0"/>
              <a:t>gibi </a:t>
            </a:r>
            <a:r>
              <a:rPr lang="tr-TR" dirty="0"/>
              <a:t>ortak kütüphanelerin </a:t>
            </a:r>
            <a:r>
              <a:rPr lang="tr-TR" dirty="0" smtClean="0"/>
              <a:t>yönlendirdiği bağlantılar bulunur.</a:t>
            </a:r>
            <a:endParaRPr lang="tr-TR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 rotWithShape="1">
          <a:blip r:embed="rId2"/>
          <a:srcRect l="27686" t="8156" r="24765" b="30496"/>
          <a:stretch/>
        </p:blipFill>
        <p:spPr>
          <a:xfrm>
            <a:off x="2253803" y="1528998"/>
            <a:ext cx="7675808" cy="327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09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tr-TR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IPython Magic </a:t>
            </a:r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Commands</a:t>
            </a:r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r-TR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	Magic </a:t>
            </a:r>
            <a:r>
              <a:rPr lang="tr-TR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commands</a:t>
            </a:r>
            <a:r>
              <a:rPr lang="tr-TR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800" dirty="0">
                <a:latin typeface="Arial" panose="020B0604020202020204" pitchFamily="34" charset="0"/>
                <a:cs typeface="Arial" panose="020B0604020202020204" pitchFamily="34" charset="0"/>
              </a:rPr>
              <a:t>iki şekildedir: </a:t>
            </a:r>
            <a:r>
              <a:rPr lang="tr-TR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Line</a:t>
            </a:r>
            <a:r>
              <a:rPr lang="tr-TR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800" dirty="0" err="1">
                <a:latin typeface="Arial" panose="020B0604020202020204" pitchFamily="34" charset="0"/>
                <a:cs typeface="Arial" panose="020B0604020202020204" pitchFamily="34" charset="0"/>
              </a:rPr>
              <a:t>magics</a:t>
            </a:r>
            <a:r>
              <a:rPr lang="tr-T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tek % işareti ile gösterilir ve </a:t>
            </a:r>
            <a:r>
              <a:rPr lang="tr-TR" sz="1800" dirty="0">
                <a:latin typeface="Arial" panose="020B0604020202020204" pitchFamily="34" charset="0"/>
                <a:cs typeface="Arial" panose="020B0604020202020204" pitchFamily="34" charset="0"/>
              </a:rPr>
              <a:t>giriş tek bir </a:t>
            </a:r>
            <a:r>
              <a:rPr lang="tr-TR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line</a:t>
            </a:r>
            <a:r>
              <a:rPr lang="tr-TR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800" dirty="0">
                <a:latin typeface="Arial" panose="020B0604020202020204" pitchFamily="34" charset="0"/>
                <a:cs typeface="Arial" panose="020B0604020202020204" pitchFamily="34" charset="0"/>
              </a:rPr>
              <a:t>üzerinde işlem </a:t>
            </a:r>
            <a:r>
              <a:rPr lang="tr-TR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ve </a:t>
            </a:r>
            <a:r>
              <a:rPr lang="tr-TR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cell</a:t>
            </a:r>
            <a:r>
              <a:rPr lang="tr-TR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800" dirty="0" err="1">
                <a:latin typeface="Arial" panose="020B0604020202020204" pitchFamily="34" charset="0"/>
                <a:cs typeface="Arial" panose="020B0604020202020204" pitchFamily="34" charset="0"/>
              </a:rPr>
              <a:t>magics</a:t>
            </a:r>
            <a:r>
              <a:rPr lang="tr-TR" sz="1800" dirty="0">
                <a:latin typeface="Arial" panose="020B0604020202020204" pitchFamily="34" charset="0"/>
                <a:cs typeface="Arial" panose="020B0604020202020204" pitchFamily="34" charset="0"/>
              </a:rPr>
              <a:t> çift </a:t>
            </a:r>
            <a:r>
              <a:rPr lang="tr-TR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%% işareti ile gösterilir ve </a:t>
            </a:r>
            <a:r>
              <a:rPr lang="tr-TR" sz="1800" dirty="0">
                <a:latin typeface="Arial" panose="020B0604020202020204" pitchFamily="34" charset="0"/>
                <a:cs typeface="Arial" panose="020B0604020202020204" pitchFamily="34" charset="0"/>
              </a:rPr>
              <a:t>birden çok girdi satırında </a:t>
            </a:r>
            <a:r>
              <a:rPr lang="tr-TR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çalıştırır. </a:t>
            </a:r>
          </a:p>
          <a:p>
            <a:r>
              <a:rPr lang="tr-TR" sz="1800" dirty="0"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r>
              <a:rPr lang="tr-TR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lsmagic</a:t>
            </a:r>
            <a:r>
              <a:rPr lang="tr-TR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: Bütün komutları listeler.</a:t>
            </a:r>
          </a:p>
          <a:p>
            <a:r>
              <a:rPr lang="tr-TR" sz="1800" dirty="0"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r>
              <a:rPr lang="tr-TR" sz="1800" dirty="0" err="1">
                <a:latin typeface="Arial" panose="020B0604020202020204" pitchFamily="34" charset="0"/>
                <a:cs typeface="Arial" panose="020B0604020202020204" pitchFamily="34" charset="0"/>
              </a:rPr>
              <a:t>matplotlib</a:t>
            </a:r>
            <a:r>
              <a:rPr lang="tr-T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inline </a:t>
            </a:r>
            <a:r>
              <a:rPr lang="tr-TR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line</a:t>
            </a:r>
            <a:r>
              <a:rPr lang="tr-TR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magic</a:t>
            </a:r>
            <a:r>
              <a:rPr lang="tr-TR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command</a:t>
            </a:r>
            <a:r>
              <a:rPr lang="tr-T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IPython </a:t>
            </a:r>
            <a:r>
              <a:rPr lang="tr-TR" sz="1800" dirty="0">
                <a:latin typeface="Arial" panose="020B0604020202020204" pitchFamily="34" charset="0"/>
                <a:cs typeface="Arial" panose="020B0604020202020204" pitchFamily="34" charset="0"/>
              </a:rPr>
              <a:t>çekirdeğine dayanan Jupyter, IPython çekirdeğindeki tüm </a:t>
            </a:r>
            <a:r>
              <a:rPr lang="tr-TR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magic</a:t>
            </a:r>
            <a:r>
              <a:rPr lang="tr-TR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800" dirty="0">
                <a:latin typeface="Arial" panose="020B0604020202020204" pitchFamily="34" charset="0"/>
                <a:cs typeface="Arial" panose="020B0604020202020204" pitchFamily="34" charset="0"/>
              </a:rPr>
              <a:t>erişebilir ve hayatınızı çok daha kolay hale </a:t>
            </a:r>
            <a:r>
              <a:rPr lang="tr-TR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getirebilir.</a:t>
            </a:r>
            <a:endParaRPr lang="tr-T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307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IPython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Magic – %run: Execute python code</a:t>
            </a:r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indent="0">
              <a:buNone/>
            </a:pPr>
            <a:endParaRPr lang="tr-T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tr-T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tr-TR" b="1" dirty="0" smtClean="0"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r>
              <a:rPr lang="tr-TR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run</a:t>
            </a:r>
            <a:r>
              <a:rPr lang="tr-TR" b="1" dirty="0" smtClean="0">
                <a:latin typeface="Arial" panose="020B0604020202020204" pitchFamily="34" charset="0"/>
                <a:cs typeface="Arial" panose="020B0604020202020204" pitchFamily="34" charset="0"/>
              </a:rPr>
              <a:t> .</a:t>
            </a:r>
            <a:r>
              <a:rPr lang="tr-TR" b="1" dirty="0">
                <a:latin typeface="Arial" panose="020B0604020202020204" pitchFamily="34" charset="0"/>
                <a:cs typeface="Arial" panose="020B0604020202020204" pitchFamily="34" charset="0"/>
              </a:rPr>
              <a:t>py 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dosyalarından </a:t>
            </a:r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 kodu çalıştırabilir. </a:t>
            </a:r>
            <a:r>
              <a:rPr lang="tr-TR" dirty="0" smtClean="0">
                <a:latin typeface="Arial" panose="020B0604020202020204" pitchFamily="34" charset="0"/>
                <a:cs typeface="Arial" panose="020B0604020202020204" pitchFamily="34" charset="0"/>
              </a:rPr>
              <a:t>Aynı 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zamanda oldukça kullanışlı olabilecek diğer jupyter defterleri </a:t>
            </a:r>
            <a:r>
              <a:rPr lang="tr-TR" dirty="0" smtClean="0">
                <a:latin typeface="Arial" panose="020B0604020202020204" pitchFamily="34" charset="0"/>
                <a:cs typeface="Arial" panose="020B0604020202020204" pitchFamily="34" charset="0"/>
              </a:rPr>
              <a:t>de çalıştırabilmesidir.</a:t>
            </a:r>
          </a:p>
          <a:p>
            <a:pPr marL="0" indent="0">
              <a:buNone/>
            </a:pPr>
            <a:endParaRPr lang="tr-T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988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tr-T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IPython Magic </a:t>
            </a:r>
            <a:r>
              <a:rPr lang="tr-T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-%</a:t>
            </a:r>
            <a:r>
              <a:rPr lang="tr-TR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load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: Kodu harici bir komut dosyasından </a:t>
            </a:r>
            <a:r>
              <a:rPr lang="tr-T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ekler</a:t>
            </a:r>
            <a:endParaRPr lang="tr-TR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tr-TR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tr-T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tr-T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Bu </a:t>
            </a:r>
            <a:r>
              <a:rPr lang="tr-TR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magic</a:t>
            </a:r>
            <a:r>
              <a:rPr lang="tr-T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commund</a:t>
            </a:r>
            <a:r>
              <a:rPr lang="tr-T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2000" dirty="0">
                <a:latin typeface="Arial" panose="020B0604020202020204" pitchFamily="34" charset="0"/>
                <a:cs typeface="Arial" panose="020B0604020202020204" pitchFamily="34" charset="0"/>
              </a:rPr>
              <a:t>yerel bir dosya adı, bir URL, bir geçmiş aralığı (% geçmişe bakın) veya bir makroyu </a:t>
            </a:r>
            <a:r>
              <a:rPr lang="tr-T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bağımsız </a:t>
            </a:r>
            <a:r>
              <a:rPr lang="tr-TR" sz="2000" dirty="0">
                <a:latin typeface="Arial" panose="020B0604020202020204" pitchFamily="34" charset="0"/>
                <a:cs typeface="Arial" panose="020B0604020202020204" pitchFamily="34" charset="0"/>
              </a:rPr>
              <a:t>değişken olarak </a:t>
            </a:r>
            <a:r>
              <a:rPr lang="tr-T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alabilir.</a:t>
            </a:r>
            <a:endParaRPr lang="tr-T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119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141412" y="2356833"/>
            <a:ext cx="9875434" cy="1466023"/>
          </a:xfrm>
        </p:spPr>
        <p:txBody>
          <a:bodyPr/>
          <a:lstStyle/>
          <a:p>
            <a:pPr algn="ctr"/>
            <a:r>
              <a:rPr lang="tr-TR" dirty="0" smtClean="0">
                <a:latin typeface="Arial" panose="020B0604020202020204" pitchFamily="34" charset="0"/>
                <a:cs typeface="Arial" panose="020B0604020202020204" pitchFamily="34" charset="0"/>
              </a:rPr>
              <a:t>7. 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IPython Magic -% </a:t>
            </a:r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store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: Defterler arasında değişkenler </a:t>
            </a:r>
            <a:r>
              <a:rPr lang="tr-TR" dirty="0" smtClean="0">
                <a:latin typeface="Arial" panose="020B0604020202020204" pitchFamily="34" charset="0"/>
                <a:cs typeface="Arial" panose="020B0604020202020204" pitchFamily="34" charset="0"/>
              </a:rPr>
              <a:t>iletir.</a:t>
            </a:r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204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167171" y="2215498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tr-TR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IPython Magic -% </a:t>
            </a:r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who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: Global kapsamın tüm değişkenlerini </a:t>
            </a:r>
            <a:r>
              <a:rPr lang="tr-TR" dirty="0" smtClean="0">
                <a:latin typeface="Arial" panose="020B0604020202020204" pitchFamily="34" charset="0"/>
                <a:cs typeface="Arial" panose="020B0604020202020204" pitchFamily="34" charset="0"/>
              </a:rPr>
              <a:t>listeler.</a:t>
            </a:r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325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tr-TR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IPython Magic - Zamanlama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1413" y="2906309"/>
            <a:ext cx="9905999" cy="13179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Zamanlama </a:t>
            </a:r>
            <a:r>
              <a:rPr lang="tr-TR" sz="2000" dirty="0">
                <a:latin typeface="Arial" panose="020B0604020202020204" pitchFamily="34" charset="0"/>
                <a:cs typeface="Arial" panose="020B0604020202020204" pitchFamily="34" charset="0"/>
              </a:rPr>
              <a:t>için yararlı olan iki IPython Magic komutu vardır -  %%time ve  %</a:t>
            </a:r>
            <a:r>
              <a:rPr lang="tr-TR" sz="2000" dirty="0" err="1">
                <a:latin typeface="Arial" panose="020B0604020202020204" pitchFamily="34" charset="0"/>
                <a:cs typeface="Arial" panose="020B0604020202020204" pitchFamily="34" charset="0"/>
              </a:rPr>
              <a:t>timeit</a:t>
            </a:r>
            <a:r>
              <a:rPr lang="tr-TR" sz="2000" dirty="0">
                <a:latin typeface="Arial" panose="020B0604020202020204" pitchFamily="34" charset="0"/>
                <a:cs typeface="Arial" panose="020B0604020202020204" pitchFamily="34" charset="0"/>
              </a:rPr>
              <a:t>. Bunlar, yavaş kodlarınız olduğunda ve sorunun nerede olduğunu belirlemeye çalıştığınızda </a:t>
            </a:r>
            <a:r>
              <a:rPr lang="tr-T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özellikle </a:t>
            </a:r>
            <a:r>
              <a:rPr lang="tr-TR" sz="2000" dirty="0">
                <a:latin typeface="Arial" panose="020B0604020202020204" pitchFamily="34" charset="0"/>
                <a:cs typeface="Arial" panose="020B0604020202020204" pitchFamily="34" charset="0"/>
              </a:rPr>
              <a:t>kullanışlıdır</a:t>
            </a:r>
            <a:r>
              <a:rPr lang="tr-T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tr-T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4156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tr-TR" sz="30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3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3000" b="1" dirty="0" err="1">
                <a:latin typeface="Arial" panose="020B0604020202020204" pitchFamily="34" charset="0"/>
                <a:cs typeface="Arial" panose="020B0604020202020204" pitchFamily="34" charset="0"/>
              </a:rPr>
              <a:t>IPython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 Magic - %% </a:t>
            </a:r>
            <a:r>
              <a:rPr lang="en-US" sz="3000" b="1" dirty="0" err="1">
                <a:latin typeface="Arial" panose="020B0604020202020204" pitchFamily="34" charset="0"/>
                <a:cs typeface="Arial" panose="020B0604020202020204" pitchFamily="34" charset="0"/>
              </a:rPr>
              <a:t>writefile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lang="tr-TR" sz="3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% </a:t>
            </a:r>
            <a:r>
              <a:rPr lang="en-US" sz="3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pycat</a:t>
            </a:r>
            <a:endParaRPr lang="tr-TR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1412" y="1777286"/>
            <a:ext cx="9905999" cy="4945486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tr-T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tr-TR" dirty="0" smtClean="0">
                <a:latin typeface="Arial" panose="020B0604020202020204" pitchFamily="34" charset="0"/>
                <a:cs typeface="Arial" panose="020B0604020202020204" pitchFamily="34" charset="0"/>
              </a:rPr>
              <a:t>%%</a:t>
            </a:r>
            <a:r>
              <a:rPr lang="tr-TR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writefile</a:t>
            </a:r>
            <a:r>
              <a:rPr lang="tr-TR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sihrini kullanmak, o hücrenin içeriğini harici bir dosyaya kaydeder. </a:t>
            </a:r>
            <a:r>
              <a:rPr lang="tr-TR" dirty="0" smtClean="0"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r>
              <a:rPr lang="tr-TR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pycat</a:t>
            </a:r>
            <a:r>
              <a:rPr lang="tr-TR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tam </a:t>
            </a:r>
            <a:r>
              <a:rPr lang="tr-TR" dirty="0" smtClean="0">
                <a:latin typeface="Arial" panose="020B0604020202020204" pitchFamily="34" charset="0"/>
                <a:cs typeface="Arial" panose="020B0604020202020204" pitchFamily="34" charset="0"/>
              </a:rPr>
              <a:t>tersini 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yapar ve harici bir dosyanın sözdizimi vurgulanmış içeriğini </a:t>
            </a:r>
            <a:r>
              <a:rPr lang="tr-TR" dirty="0" smtClean="0">
                <a:latin typeface="Arial" panose="020B0604020202020204" pitchFamily="34" charset="0"/>
                <a:cs typeface="Arial" panose="020B0604020202020204" pitchFamily="34" charset="0"/>
              </a:rPr>
              <a:t>gösterir.</a:t>
            </a:r>
          </a:p>
          <a:p>
            <a:pPr marL="0" indent="0">
              <a:buNone/>
            </a:pPr>
            <a:endParaRPr lang="tr-T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tr-T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781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tr-TR" sz="28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IPython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Magic - Retina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dizüstü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bilgisayarlar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için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yüksek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çözünürlüklü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çizim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çıkışları</a:t>
            </a:r>
            <a:endParaRPr lang="tr-T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tr-T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tr-TR" dirty="0" smtClean="0">
                <a:latin typeface="Arial" panose="020B0604020202020204" pitchFamily="34" charset="0"/>
                <a:cs typeface="Arial" panose="020B0604020202020204" pitchFamily="34" charset="0"/>
              </a:rPr>
              <a:t>Bir </a:t>
            </a:r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IPython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 sihri satırı, daha yeni </a:t>
            </a:r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Macbook'lar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 gibi Retina ekranlar için çift </a:t>
            </a:r>
            <a:r>
              <a:rPr lang="tr-TR" dirty="0" smtClean="0">
                <a:latin typeface="Arial" panose="020B0604020202020204" pitchFamily="34" charset="0"/>
                <a:cs typeface="Arial" panose="020B0604020202020204" pitchFamily="34" charset="0"/>
              </a:rPr>
              <a:t>çözünürlüklü 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çizim çıktısı verecektir</a:t>
            </a:r>
            <a:r>
              <a:rPr lang="tr-T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tr-TR" b="1" dirty="0"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r>
              <a:rPr lang="tr-TR" b="1" dirty="0" err="1">
                <a:latin typeface="Arial" panose="020B0604020202020204" pitchFamily="34" charset="0"/>
                <a:cs typeface="Arial" panose="020B0604020202020204" pitchFamily="34" charset="0"/>
              </a:rPr>
              <a:t>config</a:t>
            </a:r>
            <a:r>
              <a:rPr lang="tr-T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b="1" dirty="0" err="1">
                <a:latin typeface="Arial" panose="020B0604020202020204" pitchFamily="34" charset="0"/>
                <a:cs typeface="Arial" panose="020B0604020202020204" pitchFamily="34" charset="0"/>
              </a:rPr>
              <a:t>InlineBackend.figure_format</a:t>
            </a:r>
            <a:r>
              <a:rPr lang="tr-TR" b="1" dirty="0">
                <a:latin typeface="Arial" panose="020B0604020202020204" pitchFamily="34" charset="0"/>
                <a:cs typeface="Arial" panose="020B0604020202020204" pitchFamily="34" charset="0"/>
              </a:rPr>
              <a:t> ='retina'</a:t>
            </a:r>
            <a:endParaRPr lang="tr-T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889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188892" y="631396"/>
            <a:ext cx="9905998" cy="1478570"/>
          </a:xfrm>
        </p:spPr>
        <p:txBody>
          <a:bodyPr>
            <a:normAutofit/>
          </a:bodyPr>
          <a:lstStyle/>
          <a:p>
            <a:r>
              <a:rPr lang="tr-T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12. Shell komutlarının yürütülmesi</a:t>
            </a:r>
            <a:endParaRPr lang="tr-T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1412" y="2109967"/>
            <a:ext cx="9905999" cy="2397640"/>
          </a:xfrm>
        </p:spPr>
        <p:txBody>
          <a:bodyPr/>
          <a:lstStyle/>
          <a:p>
            <a:pPr marL="0" indent="0">
              <a:buNone/>
            </a:pPr>
            <a:endParaRPr lang="tr-TR" dirty="0" smtClean="0"/>
          </a:p>
          <a:p>
            <a:pPr marL="0" indent="0" algn="just">
              <a:buNone/>
            </a:pPr>
            <a:r>
              <a:rPr lang="tr-TR" dirty="0" smtClean="0">
                <a:latin typeface="Arial" panose="020B0604020202020204" pitchFamily="34" charset="0"/>
                <a:cs typeface="Arial" panose="020B0604020202020204" pitchFamily="34" charset="0"/>
              </a:rPr>
              <a:t>Dizüstü 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bilgisayarınızın içinden bir </a:t>
            </a:r>
            <a:r>
              <a:rPr lang="tr-TR" dirty="0" smtClean="0">
                <a:latin typeface="Arial" panose="020B0604020202020204" pitchFamily="34" charset="0"/>
                <a:cs typeface="Arial" panose="020B0604020202020204" pitchFamily="34" charset="0"/>
              </a:rPr>
              <a:t>shell 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komutu yürütmek kolaydır. Çalışma klasörünüzde hangi veri kümelerinin bulunduğunu kontrol etmek için bunu </a:t>
            </a:r>
            <a:r>
              <a:rPr lang="tr-TR" dirty="0" smtClean="0">
                <a:latin typeface="Arial" panose="020B0604020202020204" pitchFamily="34" charset="0"/>
                <a:cs typeface="Arial" panose="020B0604020202020204" pitchFamily="34" charset="0"/>
              </a:rPr>
              <a:t>kullanabilirsiniz.</a:t>
            </a:r>
          </a:p>
        </p:txBody>
      </p:sp>
    </p:spTree>
    <p:extLst>
      <p:ext uri="{BB962C8B-B14F-4D97-AF65-F5344CB8AC3E}">
        <p14:creationId xmlns:p14="http://schemas.microsoft.com/office/powerpoint/2010/main" val="1150864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901189"/>
          </a:xfrm>
        </p:spPr>
        <p:txBody>
          <a:bodyPr>
            <a:normAutofit/>
          </a:bodyPr>
          <a:lstStyle/>
          <a:p>
            <a:r>
              <a:rPr lang="tr-TR" b="1" dirty="0" smtClean="0">
                <a:latin typeface="Arial" panose="020B0604020202020204" pitchFamily="34" charset="0"/>
                <a:cs typeface="Arial" panose="020B0604020202020204" pitchFamily="34" charset="0"/>
              </a:rPr>
              <a:t>13. </a:t>
            </a:r>
            <a:r>
              <a:rPr lang="tr-TR" b="1" dirty="0">
                <a:latin typeface="Arial" panose="020B0604020202020204" pitchFamily="34" charset="0"/>
                <a:cs typeface="Arial" panose="020B0604020202020204" pitchFamily="34" charset="0"/>
              </a:rPr>
              <a:t>Forumlar için LaTeX kullanımı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1412" y="1931831"/>
            <a:ext cx="9905999" cy="255001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tr-T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tr-TR" dirty="0" smtClean="0">
                <a:latin typeface="Arial" panose="020B0604020202020204" pitchFamily="34" charset="0"/>
                <a:cs typeface="Arial" panose="020B0604020202020204" pitchFamily="34" charset="0"/>
              </a:rPr>
              <a:t>Bir  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Markdown hücresine </a:t>
            </a:r>
            <a:r>
              <a:rPr lang="tr-TR" b="1" dirty="0">
                <a:latin typeface="Arial" panose="020B0604020202020204" pitchFamily="34" charset="0"/>
                <a:cs typeface="Arial" panose="020B0604020202020204" pitchFamily="34" charset="0"/>
              </a:rPr>
              <a:t>LaTeX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 yazdığınızda  , MathJax kullanılarak formül olarak işlenir</a:t>
            </a:r>
            <a:r>
              <a:rPr lang="tr-T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$P(A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\mid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B) = \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frac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{P(B \mid A)P(A)}{P(B)}$</a:t>
            </a:r>
            <a:endParaRPr lang="tr-TR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1549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latin typeface="Arial" panose="020B0604020202020204" pitchFamily="34" charset="0"/>
                <a:cs typeface="Arial" panose="020B0604020202020204" pitchFamily="34" charset="0"/>
              </a:rPr>
              <a:t>14. </a:t>
            </a:r>
            <a:r>
              <a:rPr lang="tr-TR" b="1" dirty="0" err="1">
                <a:latin typeface="Arial" panose="020B0604020202020204" pitchFamily="34" charset="0"/>
                <a:cs typeface="Arial" panose="020B0604020202020204" pitchFamily="34" charset="0"/>
              </a:rPr>
              <a:t>Jupyter</a:t>
            </a:r>
            <a:r>
              <a:rPr lang="tr-TR" b="1" dirty="0">
                <a:latin typeface="Arial" panose="020B0604020202020204" pitchFamily="34" charset="0"/>
                <a:cs typeface="Arial" panose="020B0604020202020204" pitchFamily="34" charset="0"/>
              </a:rPr>
              <a:t> için başka </a:t>
            </a:r>
            <a:r>
              <a:rPr lang="tr-TR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kernel</a:t>
            </a:r>
            <a:r>
              <a:rPr lang="tr-TR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b="1" dirty="0">
                <a:latin typeface="Arial" panose="020B0604020202020204" pitchFamily="34" charset="0"/>
                <a:cs typeface="Arial" panose="020B0604020202020204" pitchFamily="34" charset="0"/>
              </a:rPr>
              <a:t>kurun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tr-T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tr-TR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Jupyter’in</a:t>
            </a:r>
            <a:r>
              <a:rPr lang="tr-TR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ile ilgili güzel özelliklerden biri, farklı diller için </a:t>
            </a:r>
            <a:r>
              <a:rPr lang="tr-TR" dirty="0" smtClean="0">
                <a:latin typeface="Arial" panose="020B0604020202020204" pitchFamily="34" charset="0"/>
                <a:cs typeface="Arial" panose="020B0604020202020204" pitchFamily="34" charset="0"/>
              </a:rPr>
              <a:t>çekirdek çalıştırma 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yeteneğidir. Örnek olarak, R </a:t>
            </a:r>
            <a:r>
              <a:rPr lang="tr-TR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kernel’ını</a:t>
            </a:r>
            <a:r>
              <a:rPr lang="tr-TR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verebilriz</a:t>
            </a:r>
            <a:r>
              <a:rPr lang="tr-T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buNone/>
            </a:pP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conda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install -c r 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r-Essentials</a:t>
            </a:r>
          </a:p>
        </p:txBody>
      </p:sp>
    </p:spTree>
    <p:extLst>
      <p:ext uri="{BB962C8B-B14F-4D97-AF65-F5344CB8AC3E}">
        <p14:creationId xmlns:p14="http://schemas.microsoft.com/office/powerpoint/2010/main" val="897786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154292" y="927610"/>
            <a:ext cx="9905998" cy="1478570"/>
          </a:xfrm>
        </p:spPr>
        <p:txBody>
          <a:bodyPr/>
          <a:lstStyle/>
          <a:p>
            <a:r>
              <a:rPr lang="tr-TR" b="1" dirty="0" smtClean="0">
                <a:latin typeface="Arial" panose="020B0604020202020204" pitchFamily="34" charset="0"/>
                <a:cs typeface="Arial" panose="020B0604020202020204" pitchFamily="34" charset="0"/>
              </a:rPr>
              <a:t>15. </a:t>
            </a:r>
            <a:r>
              <a:rPr lang="tr-TR" b="1" dirty="0">
                <a:latin typeface="Arial" panose="020B0604020202020204" pitchFamily="34" charset="0"/>
                <a:cs typeface="Arial" panose="020B0604020202020204" pitchFamily="34" charset="0"/>
              </a:rPr>
              <a:t>R ve </a:t>
            </a:r>
            <a:r>
              <a:rPr lang="tr-TR" b="1" dirty="0" err="1">
                <a:latin typeface="Arial" panose="020B0604020202020204" pitchFamily="34" charset="0"/>
                <a:cs typeface="Arial" panose="020B0604020202020204" pitchFamily="34" charset="0"/>
              </a:rPr>
              <a:t>Python'u</a:t>
            </a:r>
            <a:r>
              <a:rPr lang="tr-TR" b="1" dirty="0">
                <a:latin typeface="Arial" panose="020B0604020202020204" pitchFamily="34" charset="0"/>
                <a:cs typeface="Arial" panose="020B0604020202020204" pitchFamily="34" charset="0"/>
              </a:rPr>
              <a:t> aynı </a:t>
            </a:r>
            <a:r>
              <a:rPr lang="tr-TR" b="1" dirty="0" smtClean="0">
                <a:latin typeface="Arial" panose="020B0604020202020204" pitchFamily="34" charset="0"/>
                <a:cs typeface="Arial" panose="020B0604020202020204" pitchFamily="34" charset="0"/>
              </a:rPr>
              <a:t>notebook bilgisayarda </a:t>
            </a:r>
            <a:r>
              <a:rPr lang="tr-TR" b="1" dirty="0">
                <a:latin typeface="Arial" panose="020B0604020202020204" pitchFamily="34" charset="0"/>
                <a:cs typeface="Arial" panose="020B0604020202020204" pitchFamily="34" charset="0"/>
              </a:rPr>
              <a:t>çalıştırmak.</a:t>
            </a:r>
          </a:p>
        </p:txBody>
      </p:sp>
      <p:sp>
        <p:nvSpPr>
          <p:cNvPr id="3" name="Dikdörtgen 2"/>
          <p:cNvSpPr/>
          <p:nvPr/>
        </p:nvSpPr>
        <p:spPr>
          <a:xfrm>
            <a:off x="1154292" y="3244334"/>
            <a:ext cx="934199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smtClean="0"/>
              <a:t>pip</a:t>
            </a:r>
            <a:r>
              <a:rPr lang="tr-TR" sz="2400" b="1" dirty="0" smtClean="0"/>
              <a:t> </a:t>
            </a:r>
            <a:r>
              <a:rPr lang="tr-TR" sz="2400" b="1" dirty="0" err="1"/>
              <a:t>install</a:t>
            </a:r>
            <a:r>
              <a:rPr lang="tr-TR" sz="2400" b="1" dirty="0"/>
              <a:t> </a:t>
            </a:r>
            <a:r>
              <a:rPr lang="tr-TR" sz="2400" b="1" dirty="0" smtClean="0"/>
              <a:t>rpy2</a:t>
            </a:r>
          </a:p>
          <a:p>
            <a:endParaRPr lang="tr-TR" sz="2400" b="1" dirty="0"/>
          </a:p>
        </p:txBody>
      </p:sp>
    </p:spTree>
    <p:extLst>
      <p:ext uri="{BB962C8B-B14F-4D97-AF65-F5344CB8AC3E}">
        <p14:creationId xmlns:p14="http://schemas.microsoft.com/office/powerpoint/2010/main" val="14196729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evre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TM04033919[[fn=Devre]]</Template>
  <TotalTime>5647</TotalTime>
  <Words>423</Words>
  <Application>Microsoft Office PowerPoint</Application>
  <PresentationFormat>Geniş ekran</PresentationFormat>
  <Paragraphs>68</Paragraphs>
  <Slides>17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17</vt:i4>
      </vt:variant>
    </vt:vector>
  </HeadingPairs>
  <TitlesOfParts>
    <vt:vector size="23" baseType="lpstr">
      <vt:lpstr>Arial</vt:lpstr>
      <vt:lpstr>Arial Black</vt:lpstr>
      <vt:lpstr>Arial Rounded MT Bold</vt:lpstr>
      <vt:lpstr>Trebuchet MS</vt:lpstr>
      <vt:lpstr>Tw Cen MT</vt:lpstr>
      <vt:lpstr>Devre</vt:lpstr>
      <vt:lpstr>JUPYTER NOTEBOOK TIPS, TRıCKS and Shortcuts </vt:lpstr>
      <vt:lpstr>Jupyter Notebook</vt:lpstr>
      <vt:lpstr>jupyter ile çalışmamızı kolaylaştıran bazı püf noktalar</vt:lpstr>
      <vt:lpstr>2. Pretty Display of Variables</vt:lpstr>
      <vt:lpstr>3. Easy links to documentation(Kolay dokümantasyon bağlantıları)</vt:lpstr>
      <vt:lpstr>4. IPython Magic Commands</vt:lpstr>
      <vt:lpstr>5. IPython Magic – %run: Execute python code</vt:lpstr>
      <vt:lpstr>6. IPython Magic -%load: Kodu harici bir komut dosyasından ekler</vt:lpstr>
      <vt:lpstr>7. IPython Magic -% store: Defterler arasında değişkenler iletir.</vt:lpstr>
      <vt:lpstr>8. IPython Magic -% who: Global kapsamın tüm değişkenlerini listeler.</vt:lpstr>
      <vt:lpstr>9. IPython Magic - Zamanlama</vt:lpstr>
      <vt:lpstr>10. IPython Magic - %% writefile ve % pycat</vt:lpstr>
      <vt:lpstr>11. IPython Magic - Retina dizüstü bilgisayarlar için yüksek çözünürlüklü çizim çıkışları</vt:lpstr>
      <vt:lpstr>12. Shell komutlarının yürütülmesi</vt:lpstr>
      <vt:lpstr>13. Forumlar için LaTeX kullanımı</vt:lpstr>
      <vt:lpstr>14. Jupyter için başka kernel kurun</vt:lpstr>
      <vt:lpstr>15. R ve Python'u aynı notebook bilgisayarda çalıştırmak.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JUPYTER NOTEBOOK</dc:title>
  <dc:creator>sevim sevilgen</dc:creator>
  <cp:lastModifiedBy>sevim sevilgen</cp:lastModifiedBy>
  <cp:revision>75</cp:revision>
  <dcterms:created xsi:type="dcterms:W3CDTF">2020-05-01T09:20:48Z</dcterms:created>
  <dcterms:modified xsi:type="dcterms:W3CDTF">2020-05-06T18:50:12Z</dcterms:modified>
</cp:coreProperties>
</file>